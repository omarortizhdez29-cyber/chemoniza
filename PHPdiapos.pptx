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serrat Bold" charset="1" panose="00000800000000000000"/>
      <p:regular r:id="rId14"/>
    </p:embeddedFont>
    <p:embeddedFont>
      <p:font typeface="Inter" charset="1" panose="02000503000000020004"/>
      <p:regular r:id="rId15"/>
    </p:embeddedFont>
    <p:embeddedFont>
      <p:font typeface="Montserrat" charset="1" panose="00000500000000000000"/>
      <p:regular r:id="rId16"/>
    </p:embeddedFont>
    <p:embeddedFont>
      <p:font typeface="Montserrat Medium" charset="1" panose="000006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59223" y="3181161"/>
            <a:ext cx="14169554" cy="291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0"/>
              </a:lnSpc>
            </a:pPr>
            <a:r>
              <a:rPr lang="en-US" b="true" sz="20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PHP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90247" y="6492814"/>
            <a:ext cx="13307507" cy="74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</a:pPr>
            <a:r>
              <a:rPr lang="en-US" sz="436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2059223" y="6327553"/>
            <a:ext cx="14169554" cy="0"/>
          </a:xfrm>
          <a:prstGeom prst="line">
            <a:avLst/>
          </a:prstGeom>
          <a:ln cap="flat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7946" y="890067"/>
            <a:ext cx="9178841" cy="104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b="true" sz="7169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CONTENIDO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25073" y="2647029"/>
            <a:ext cx="9466865" cy="69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6"/>
              </a:lnSpc>
            </a:pPr>
            <a:r>
              <a:rPr lang="en-US" sz="480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¿Qué es PHP?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25073" y="3738512"/>
            <a:ext cx="9466865" cy="69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6"/>
              </a:lnSpc>
            </a:pPr>
            <a:r>
              <a:rPr lang="en-US" sz="480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Historia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25073" y="4829995"/>
            <a:ext cx="9466865" cy="69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6"/>
              </a:lnSpc>
            </a:pPr>
            <a:r>
              <a:rPr lang="en-US" sz="480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25073" y="5929062"/>
            <a:ext cx="9466865" cy="69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6"/>
              </a:lnSpc>
            </a:pPr>
            <a:r>
              <a:rPr lang="en-US" sz="480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Ventajas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0521" y="2466861"/>
            <a:ext cx="1512458" cy="105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1"/>
              </a:lnSpc>
            </a:pPr>
            <a:r>
              <a:rPr lang="en-US" b="true" sz="716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0521" y="3558344"/>
            <a:ext cx="1512458" cy="105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1"/>
              </a:lnSpc>
            </a:pPr>
            <a:r>
              <a:rPr lang="en-US" b="true" sz="716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00521" y="4649826"/>
            <a:ext cx="1512458" cy="105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1"/>
              </a:lnSpc>
            </a:pPr>
            <a:r>
              <a:rPr lang="en-US" b="true" sz="716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0521" y="5748894"/>
            <a:ext cx="1512458" cy="105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1"/>
              </a:lnSpc>
            </a:pPr>
            <a:r>
              <a:rPr lang="en-US" b="true" sz="716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2941171" y="2428875"/>
            <a:ext cx="0" cy="6335077"/>
          </a:xfrm>
          <a:prstGeom prst="line">
            <a:avLst/>
          </a:prstGeom>
          <a:ln cap="flat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171946" y="6793558"/>
            <a:ext cx="1512458" cy="105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1"/>
              </a:lnSpc>
            </a:pPr>
            <a:r>
              <a:rPr lang="en-US" b="true" sz="716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69771" y="6954676"/>
            <a:ext cx="9466865" cy="69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6"/>
              </a:lnSpc>
            </a:pPr>
            <a:r>
              <a:rPr lang="en-US" sz="480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Desventajas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0521" y="7809647"/>
            <a:ext cx="1512458" cy="105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1"/>
              </a:lnSpc>
            </a:pPr>
            <a:r>
              <a:rPr lang="en-US" b="true" sz="716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69771" y="7981097"/>
            <a:ext cx="13672242" cy="69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6"/>
              </a:lnSpc>
            </a:pPr>
            <a:r>
              <a:rPr lang="en-US" sz="480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Alternativas similares de lenguaje-servidor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57999"/>
            <a:ext cx="18288000" cy="1208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85"/>
              </a:lnSpc>
              <a:spcBef>
                <a:spcPct val="0"/>
              </a:spcBef>
            </a:pPr>
            <a:r>
              <a:rPr lang="en-US" b="true" sz="8393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PHP?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39741" y="3012149"/>
            <a:ext cx="13008519" cy="542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20"/>
              </a:lnSpc>
            </a:pPr>
            <a:r>
              <a:rPr lang="en-US" sz="6157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Lenguaje de programación interpretado de código abierto, diseñado para ejecutarse en el servidor y generar páginas web dinámicas en HTML.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5045634" y="1666096"/>
            <a:ext cx="8161767" cy="0"/>
          </a:xfrm>
          <a:prstGeom prst="line">
            <a:avLst/>
          </a:prstGeom>
          <a:ln cap="flat" w="66675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48571" y="2809986"/>
            <a:ext cx="3766999" cy="317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430"/>
              </a:lnSpc>
              <a:spcBef>
                <a:spcPct val="0"/>
              </a:spcBef>
            </a:pPr>
            <a:r>
              <a:rPr lang="en-US" b="true" sz="11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1997-2004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668733" y="4113825"/>
            <a:ext cx="1886840" cy="500013"/>
          </a:xfrm>
          <a:custGeom>
            <a:avLst/>
            <a:gdLst/>
            <a:ahLst/>
            <a:cxnLst/>
            <a:rect r="r" b="b" t="t" l="l"/>
            <a:pathLst>
              <a:path h="500013" w="1886840">
                <a:moveTo>
                  <a:pt x="0" y="0"/>
                </a:moveTo>
                <a:lnTo>
                  <a:pt x="1886840" y="0"/>
                </a:lnTo>
                <a:lnTo>
                  <a:pt x="1886840" y="500013"/>
                </a:lnTo>
                <a:lnTo>
                  <a:pt x="0" y="5000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95640" y="4113825"/>
            <a:ext cx="1886840" cy="500013"/>
          </a:xfrm>
          <a:custGeom>
            <a:avLst/>
            <a:gdLst/>
            <a:ahLst/>
            <a:cxnLst/>
            <a:rect r="r" b="b" t="t" l="l"/>
            <a:pathLst>
              <a:path h="500013" w="1886840">
                <a:moveTo>
                  <a:pt x="0" y="0"/>
                </a:moveTo>
                <a:lnTo>
                  <a:pt x="1886840" y="0"/>
                </a:lnTo>
                <a:lnTo>
                  <a:pt x="1886840" y="500013"/>
                </a:lnTo>
                <a:lnTo>
                  <a:pt x="0" y="5000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8886" y="3565767"/>
            <a:ext cx="3572905" cy="160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430"/>
              </a:lnSpc>
              <a:spcBef>
                <a:spcPct val="0"/>
              </a:spcBef>
            </a:pPr>
            <a:r>
              <a:rPr lang="en-US" b="true" sz="11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1994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44120" y="5981410"/>
            <a:ext cx="5771782" cy="41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5"/>
              </a:lnSpc>
              <a:spcBef>
                <a:spcPct val="0"/>
              </a:spcBef>
            </a:pPr>
            <a:r>
              <a:rPr lang="en-US" b="true" sz="2854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ERA DE MEJORAS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4822" y="6473084"/>
            <a:ext cx="4730379" cy="204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5"/>
              </a:lnSpc>
            </a:pPr>
            <a:r>
              <a:rPr lang="en-US" sz="28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PHP 5 mejoro la “POO”, PHP 7 optimizo la velocidad y PHP 8 añadió compilación JIT y características modernas.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2955" y="5917900"/>
            <a:ext cx="4464135" cy="41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5"/>
              </a:lnSpc>
              <a:spcBef>
                <a:spcPct val="0"/>
              </a:spcBef>
            </a:pPr>
            <a:r>
              <a:rPr lang="en-US" b="true" sz="2854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EVOLUCIÓN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02955" y="6409574"/>
            <a:ext cx="4464135" cy="1229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5"/>
              </a:lnSpc>
            </a:pPr>
            <a:r>
              <a:rPr lang="en-US" sz="28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Llegaron versiones como la 3 y 4, ademas del motor “Zend”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995" y="6003401"/>
            <a:ext cx="5464108" cy="414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5"/>
              </a:lnSpc>
            </a:pPr>
            <a:r>
              <a:rPr lang="en-US" b="true" sz="2854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CREACIÓN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6269" y="6495076"/>
            <a:ext cx="4729561" cy="1229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5"/>
              </a:lnSpc>
            </a:pPr>
            <a:r>
              <a:rPr lang="en-US" sz="28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Rasmus Lerdorf lo creo como herramientas simples para su sitio web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7946" y="628321"/>
            <a:ext cx="16172970" cy="103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54"/>
              </a:lnSpc>
              <a:spcBef>
                <a:spcPct val="0"/>
              </a:spcBef>
            </a:pPr>
            <a:r>
              <a:rPr lang="en-US" b="true" sz="7128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HISTORIA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98886" y="2809986"/>
            <a:ext cx="3766999" cy="317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430"/>
              </a:lnSpc>
              <a:spcBef>
                <a:spcPct val="0"/>
              </a:spcBef>
            </a:pPr>
            <a:r>
              <a:rPr lang="en-US" b="true" sz="11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2005-HOY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40205" y="4473279"/>
            <a:ext cx="9407436" cy="1277298"/>
            <a:chOff x="0" y="0"/>
            <a:chExt cx="12543248" cy="170306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543248" cy="1703064"/>
              <a:chOff x="0" y="0"/>
              <a:chExt cx="680898" cy="9244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80898" cy="92449"/>
              </a:xfrm>
              <a:custGeom>
                <a:avLst/>
                <a:gdLst/>
                <a:ahLst/>
                <a:cxnLst/>
                <a:rect r="r" b="b" t="t" l="l"/>
                <a:pathLst>
                  <a:path h="92449" w="680898">
                    <a:moveTo>
                      <a:pt x="46225" y="0"/>
                    </a:moveTo>
                    <a:lnTo>
                      <a:pt x="634673" y="0"/>
                    </a:lnTo>
                    <a:cubicBezTo>
                      <a:pt x="660202" y="0"/>
                      <a:pt x="680898" y="20695"/>
                      <a:pt x="680898" y="46225"/>
                    </a:cubicBezTo>
                    <a:lnTo>
                      <a:pt x="680898" y="46225"/>
                    </a:lnTo>
                    <a:cubicBezTo>
                      <a:pt x="680898" y="71754"/>
                      <a:pt x="660202" y="92449"/>
                      <a:pt x="634673" y="92449"/>
                    </a:cubicBezTo>
                    <a:lnTo>
                      <a:pt x="46225" y="92449"/>
                    </a:lnTo>
                    <a:cubicBezTo>
                      <a:pt x="20695" y="92449"/>
                      <a:pt x="0" y="71754"/>
                      <a:pt x="0" y="46225"/>
                    </a:cubicBezTo>
                    <a:lnTo>
                      <a:pt x="0" y="46225"/>
                    </a:lnTo>
                    <a:cubicBezTo>
                      <a:pt x="0" y="20695"/>
                      <a:pt x="20695" y="0"/>
                      <a:pt x="46225" y="0"/>
                    </a:cubicBezTo>
                    <a:close/>
                  </a:path>
                </a:pathLst>
              </a:custGeom>
              <a:ln w="3810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80898" cy="1305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47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15900" y="174552"/>
              <a:ext cx="12029078" cy="1392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004"/>
                </a:lnSpc>
                <a:spcBef>
                  <a:spcPct val="0"/>
                </a:spcBef>
              </a:pPr>
              <a:r>
                <a:rPr lang="en-US" b="true" sz="7083">
                  <a:solidFill>
                    <a:srgbClr val="38BDF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CARACTERÍSTICAS</a:t>
              </a: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-69" y="5111928"/>
            <a:ext cx="4440274" cy="2264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3847699" y="5153025"/>
            <a:ext cx="471700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729160" y="1766920"/>
            <a:ext cx="7422090" cy="144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505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 EJECUTA EN EL LADO DEL SERVIDOR</a:t>
            </a:r>
          </a:p>
        </p:txBody>
      </p:sp>
      <p:sp>
        <p:nvSpPr>
          <p:cNvPr name="AutoShape 11" id="11"/>
          <p:cNvSpPr/>
          <p:nvPr/>
        </p:nvSpPr>
        <p:spPr>
          <a:xfrm flipH="true" flipV="true">
            <a:off x="9144000" y="-38100"/>
            <a:ext cx="86264" cy="451137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9206179" y="5750529"/>
            <a:ext cx="0" cy="451220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136653" y="1408981"/>
            <a:ext cx="7422090" cy="216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505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FACILMENTE INCRUSTABLE EN HTML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36653" y="6569728"/>
            <a:ext cx="7422090" cy="1448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505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TIPADO DINAMICO Y MULTIPLATAFORMA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0638" y="6378450"/>
            <a:ext cx="7422090" cy="287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08"/>
              </a:lnSpc>
            </a:pPr>
            <a:r>
              <a:rPr lang="en-US" b="true" sz="505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GRAN COMPATIBILIDAD CON BASES DE DATOS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22913"/>
            <a:ext cx="6081504" cy="120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5"/>
              </a:lnSpc>
              <a:spcBef>
                <a:spcPct val="0"/>
              </a:spcBef>
            </a:pPr>
            <a:r>
              <a:rPr lang="en-US" b="true" sz="8393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VENTAJAS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5068" y="2619265"/>
            <a:ext cx="7241832" cy="491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1739" indent="-375869" lvl="1">
              <a:lnSpc>
                <a:spcPts val="4874"/>
              </a:lnSpc>
              <a:buFont typeface="Arial"/>
              <a:buChar char="•"/>
            </a:pPr>
            <a:r>
              <a:rPr lang="en-US" b="true" sz="348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Facil de aprender y muy usado</a:t>
            </a:r>
          </a:p>
          <a:p>
            <a:pPr algn="l" marL="751739" indent="-375869" lvl="1">
              <a:lnSpc>
                <a:spcPts val="4874"/>
              </a:lnSpc>
              <a:buFont typeface="Arial"/>
              <a:buChar char="•"/>
            </a:pPr>
            <a:r>
              <a:rPr lang="en-US" b="true" sz="348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Gran comunidada y frameworks potentes como Laravel</a:t>
            </a:r>
          </a:p>
          <a:p>
            <a:pPr algn="l" marL="751739" indent="-375869" lvl="1">
              <a:lnSpc>
                <a:spcPts val="4874"/>
              </a:lnSpc>
              <a:buFont typeface="Arial"/>
              <a:buChar char="•"/>
            </a:pPr>
            <a:r>
              <a:rPr lang="en-US" b="true" sz="348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Soporte economico en la mayoria de servicios de hosting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8516055" y="156238"/>
            <a:ext cx="0" cy="12251909"/>
          </a:xfrm>
          <a:prstGeom prst="line">
            <a:avLst/>
          </a:prstGeom>
          <a:ln cap="flat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769533" y="222913"/>
            <a:ext cx="8518467" cy="120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85"/>
              </a:lnSpc>
              <a:spcBef>
                <a:spcPct val="0"/>
              </a:spcBef>
            </a:pPr>
            <a:r>
              <a:rPr lang="en-US" b="true" sz="8393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DESVENTAJAS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49840" y="2608858"/>
            <a:ext cx="8003554" cy="4245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0649" indent="-375324" lvl="1">
              <a:lnSpc>
                <a:spcPts val="4867"/>
              </a:lnSpc>
              <a:buFont typeface="Arial"/>
              <a:buChar char="•"/>
            </a:pPr>
            <a:r>
              <a:rPr lang="en-US" sz="347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Inconsistencias en nombres de funciones heredadas.</a:t>
            </a:r>
          </a:p>
          <a:p>
            <a:pPr algn="l" marL="750649" indent="-375324" lvl="1">
              <a:lnSpc>
                <a:spcPts val="4867"/>
              </a:lnSpc>
              <a:buFont typeface="Arial"/>
              <a:buChar char="•"/>
            </a:pPr>
            <a:r>
              <a:rPr lang="en-US" sz="347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Propenso a codigo desordenado si no se usan buenas practicas.</a:t>
            </a:r>
          </a:p>
          <a:p>
            <a:pPr algn="l" marL="750649" indent="-375324" lvl="1">
              <a:lnSpc>
                <a:spcPts val="4867"/>
              </a:lnSpc>
              <a:buFont typeface="Arial"/>
              <a:buChar char="•"/>
            </a:pPr>
            <a:r>
              <a:rPr lang="en-US" sz="347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Menor rendimiento comparado con lenguajes mas modernos en tiempo real.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2653" y="4135130"/>
            <a:ext cx="3857835" cy="4999087"/>
            <a:chOff x="0" y="0"/>
            <a:chExt cx="5143781" cy="666545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941222" y="0"/>
              <a:ext cx="3261338" cy="3700918"/>
              <a:chOff x="0" y="0"/>
              <a:chExt cx="786784" cy="892831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786784" cy="892831"/>
              </a:xfrm>
              <a:custGeom>
                <a:avLst/>
                <a:gdLst/>
                <a:ahLst/>
                <a:cxnLst/>
                <a:rect r="r" b="b" t="t" l="l"/>
                <a:pathLst>
                  <a:path h="892831" w="786784">
                    <a:moveTo>
                      <a:pt x="0" y="0"/>
                    </a:moveTo>
                    <a:lnTo>
                      <a:pt x="786784" y="0"/>
                    </a:lnTo>
                    <a:lnTo>
                      <a:pt x="786784" y="892831"/>
                    </a:lnTo>
                    <a:lnTo>
                      <a:pt x="0" y="892831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81" t="0" r="-81" b="0"/>
                </a:stretch>
              </a:blipFill>
            </p:spPr>
          </p:sp>
        </p:grpSp>
        <p:sp>
          <p:nvSpPr>
            <p:cNvPr name="AutoShape 6" id="6"/>
            <p:cNvSpPr/>
            <p:nvPr/>
          </p:nvSpPr>
          <p:spPr>
            <a:xfrm>
              <a:off x="0" y="4888463"/>
              <a:ext cx="5143781" cy="0"/>
            </a:xfrm>
            <a:prstGeom prst="line">
              <a:avLst/>
            </a:prstGeom>
            <a:ln cap="flat" w="50800">
              <a:solidFill>
                <a:srgbClr val="38BDF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3915721"/>
              <a:ext cx="5143781" cy="747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70"/>
                </a:lnSpc>
              </a:pPr>
              <a:r>
                <a:rPr lang="en-US" b="true" sz="1920">
                  <a:solidFill>
                    <a:srgbClr val="38BDF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NODE.JS</a:t>
              </a:r>
            </a:p>
            <a:p>
              <a:pPr algn="ctr">
                <a:lnSpc>
                  <a:spcPts val="2170"/>
                </a:lnSpc>
              </a:pPr>
              <a:r>
                <a:rPr lang="en-US" b="true" sz="192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JAVASCRIPT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032575"/>
              <a:ext cx="5143781" cy="1632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28"/>
                </a:lnSpc>
                <a:spcBef>
                  <a:spcPct val="0"/>
                </a:spcBef>
              </a:pPr>
              <a:r>
                <a:rPr lang="en-US" sz="359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Asíncrono y muy popular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75080" y="4135130"/>
            <a:ext cx="2769494" cy="2775688"/>
            <a:chOff x="0" y="0"/>
            <a:chExt cx="890838" cy="8928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0838" cy="892831"/>
            </a:xfrm>
            <a:custGeom>
              <a:avLst/>
              <a:gdLst/>
              <a:ahLst/>
              <a:cxnLst/>
              <a:rect r="r" b="b" t="t" l="l"/>
              <a:pathLst>
                <a:path h="892831" w="890838">
                  <a:moveTo>
                    <a:pt x="0" y="0"/>
                  </a:moveTo>
                  <a:lnTo>
                    <a:pt x="890838" y="0"/>
                  </a:lnTo>
                  <a:lnTo>
                    <a:pt x="890838" y="892831"/>
                  </a:lnTo>
                  <a:lnTo>
                    <a:pt x="0" y="892831"/>
                  </a:lnTo>
                  <a:close/>
                </a:path>
              </a:pathLst>
            </a:custGeom>
            <a:blipFill>
              <a:blip r:embed="rId4"/>
              <a:stretch>
                <a:fillRect l="-111" t="0" r="-111" b="0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>
            <a:off x="4830909" y="7801477"/>
            <a:ext cx="3857835" cy="0"/>
          </a:xfrm>
          <a:prstGeom prst="line">
            <a:avLst/>
          </a:prstGeom>
          <a:ln cap="flat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9777099" y="4135130"/>
            <a:ext cx="2747928" cy="2775688"/>
            <a:chOff x="0" y="0"/>
            <a:chExt cx="883901" cy="8928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83901" cy="892831"/>
            </a:xfrm>
            <a:custGeom>
              <a:avLst/>
              <a:gdLst/>
              <a:ahLst/>
              <a:cxnLst/>
              <a:rect r="r" b="b" t="t" l="l"/>
              <a:pathLst>
                <a:path h="892831" w="883901">
                  <a:moveTo>
                    <a:pt x="0" y="0"/>
                  </a:moveTo>
                  <a:lnTo>
                    <a:pt x="883901" y="0"/>
                  </a:lnTo>
                  <a:lnTo>
                    <a:pt x="883901" y="892831"/>
                  </a:lnTo>
                  <a:lnTo>
                    <a:pt x="0" y="892831"/>
                  </a:lnTo>
                  <a:close/>
                </a:path>
              </a:pathLst>
            </a:custGeom>
            <a:blipFill>
              <a:blip r:embed="rId5"/>
              <a:stretch>
                <a:fillRect l="-446" t="0" r="-446" b="0"/>
              </a:stretch>
            </a:blipFill>
          </p:spPr>
        </p:sp>
      </p:grpSp>
      <p:sp>
        <p:nvSpPr>
          <p:cNvPr name="AutoShape 14" id="14"/>
          <p:cNvSpPr/>
          <p:nvPr/>
        </p:nvSpPr>
        <p:spPr>
          <a:xfrm>
            <a:off x="9222145" y="7801477"/>
            <a:ext cx="3857835" cy="0"/>
          </a:xfrm>
          <a:prstGeom prst="line">
            <a:avLst/>
          </a:prstGeom>
          <a:ln cap="flat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3734840" y="7801477"/>
            <a:ext cx="3857835" cy="0"/>
          </a:xfrm>
          <a:prstGeom prst="line">
            <a:avLst/>
          </a:prstGeom>
          <a:ln cap="flat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3804418" y="4065734"/>
            <a:ext cx="3454882" cy="2914480"/>
            <a:chOff x="0" y="0"/>
            <a:chExt cx="23562310" cy="19876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1750" y="31750"/>
              <a:ext cx="11511280" cy="19813270"/>
            </a:xfrm>
            <a:custGeom>
              <a:avLst/>
              <a:gdLst/>
              <a:ahLst/>
              <a:cxnLst/>
              <a:rect r="r" b="b" t="t" l="l"/>
              <a:pathLst>
                <a:path h="19813270" w="11511280">
                  <a:moveTo>
                    <a:pt x="0" y="0"/>
                  </a:moveTo>
                  <a:lnTo>
                    <a:pt x="11511280" y="0"/>
                  </a:lnTo>
                  <a:lnTo>
                    <a:pt x="11511280" y="19813270"/>
                  </a:lnTo>
                  <a:lnTo>
                    <a:pt x="0" y="19813270"/>
                  </a:lnTo>
                  <a:close/>
                </a:path>
              </a:pathLst>
            </a:custGeom>
            <a:blipFill>
              <a:blip r:embed="rId6"/>
              <a:stretch>
                <a:fillRect l="-12404" t="0" r="-12404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2019280" y="31750"/>
              <a:ext cx="11511280" cy="19813270"/>
            </a:xfrm>
            <a:custGeom>
              <a:avLst/>
              <a:gdLst/>
              <a:ahLst/>
              <a:cxnLst/>
              <a:rect r="r" b="b" t="t" l="l"/>
              <a:pathLst>
                <a:path h="19813270" w="11511280">
                  <a:moveTo>
                    <a:pt x="0" y="0"/>
                  </a:moveTo>
                  <a:lnTo>
                    <a:pt x="11511281" y="0"/>
                  </a:lnTo>
                  <a:lnTo>
                    <a:pt x="11511281" y="19813270"/>
                  </a:lnTo>
                  <a:lnTo>
                    <a:pt x="0" y="19813270"/>
                  </a:lnTo>
                  <a:close/>
                </a:path>
              </a:pathLst>
            </a:custGeom>
            <a:blipFill>
              <a:blip r:embed="rId7"/>
              <a:stretch>
                <a:fillRect l="-26458" t="0" r="-26458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74780" cy="19876770"/>
            </a:xfrm>
            <a:custGeom>
              <a:avLst/>
              <a:gdLst/>
              <a:ahLst/>
              <a:cxnLst/>
              <a:rect r="r" b="b" t="t" l="l"/>
              <a:pathLst>
                <a:path h="19876770" w="11574780">
                  <a:moveTo>
                    <a:pt x="11543030" y="0"/>
                  </a:moveTo>
                  <a:lnTo>
                    <a:pt x="31750" y="0"/>
                  </a:lnTo>
                  <a:cubicBezTo>
                    <a:pt x="13970" y="0"/>
                    <a:pt x="0" y="13970"/>
                    <a:pt x="0" y="31750"/>
                  </a:cubicBezTo>
                  <a:lnTo>
                    <a:pt x="0" y="19845020"/>
                  </a:lnTo>
                  <a:cubicBezTo>
                    <a:pt x="0" y="19862800"/>
                    <a:pt x="13970" y="19876770"/>
                    <a:pt x="31750" y="19876770"/>
                  </a:cubicBezTo>
                  <a:lnTo>
                    <a:pt x="11543030" y="19876770"/>
                  </a:lnTo>
                  <a:cubicBezTo>
                    <a:pt x="11560811" y="19876770"/>
                    <a:pt x="11574780" y="19862800"/>
                    <a:pt x="11574780" y="19845020"/>
                  </a:cubicBezTo>
                  <a:lnTo>
                    <a:pt x="11574780" y="31750"/>
                  </a:lnTo>
                  <a:cubicBezTo>
                    <a:pt x="11574780" y="13970"/>
                    <a:pt x="11560810" y="0"/>
                    <a:pt x="11543030" y="0"/>
                  </a:cubicBezTo>
                  <a:close/>
                  <a:moveTo>
                    <a:pt x="11511280" y="19813270"/>
                  </a:moveTo>
                  <a:lnTo>
                    <a:pt x="63500" y="19813270"/>
                  </a:lnTo>
                  <a:lnTo>
                    <a:pt x="63500" y="63500"/>
                  </a:lnTo>
                  <a:lnTo>
                    <a:pt x="11511280" y="63500"/>
                  </a:lnTo>
                  <a:lnTo>
                    <a:pt x="11511280" y="19813270"/>
                  </a:lnTo>
                  <a:close/>
                </a:path>
              </a:pathLst>
            </a:custGeom>
            <a:solidFill>
              <a:srgbClr val="06061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987530" y="0"/>
              <a:ext cx="11574780" cy="19876770"/>
            </a:xfrm>
            <a:custGeom>
              <a:avLst/>
              <a:gdLst/>
              <a:ahLst/>
              <a:cxnLst/>
              <a:rect r="r" b="b" t="t" l="l"/>
              <a:pathLst>
                <a:path h="19876770" w="11574780">
                  <a:moveTo>
                    <a:pt x="11543031" y="0"/>
                  </a:moveTo>
                  <a:lnTo>
                    <a:pt x="31750" y="0"/>
                  </a:lnTo>
                  <a:cubicBezTo>
                    <a:pt x="13970" y="0"/>
                    <a:pt x="0" y="13970"/>
                    <a:pt x="0" y="31750"/>
                  </a:cubicBezTo>
                  <a:lnTo>
                    <a:pt x="0" y="19845020"/>
                  </a:lnTo>
                  <a:cubicBezTo>
                    <a:pt x="0" y="19862800"/>
                    <a:pt x="13970" y="19876770"/>
                    <a:pt x="31750" y="19876770"/>
                  </a:cubicBezTo>
                  <a:lnTo>
                    <a:pt x="11543031" y="19876770"/>
                  </a:lnTo>
                  <a:cubicBezTo>
                    <a:pt x="11560811" y="19876770"/>
                    <a:pt x="11574781" y="19862800"/>
                    <a:pt x="11574781" y="19845020"/>
                  </a:cubicBezTo>
                  <a:lnTo>
                    <a:pt x="11574781" y="31750"/>
                  </a:lnTo>
                  <a:cubicBezTo>
                    <a:pt x="11574781" y="13970"/>
                    <a:pt x="11560809" y="0"/>
                    <a:pt x="11543031" y="0"/>
                  </a:cubicBezTo>
                  <a:close/>
                  <a:moveTo>
                    <a:pt x="11511281" y="19813270"/>
                  </a:moveTo>
                  <a:lnTo>
                    <a:pt x="63500" y="19813270"/>
                  </a:lnTo>
                  <a:lnTo>
                    <a:pt x="63500" y="63500"/>
                  </a:lnTo>
                  <a:lnTo>
                    <a:pt x="11511281" y="63500"/>
                  </a:lnTo>
                  <a:lnTo>
                    <a:pt x="11511281" y="19813270"/>
                  </a:lnTo>
                  <a:close/>
                </a:path>
              </a:pathLst>
            </a:custGeom>
            <a:solidFill>
              <a:srgbClr val="06061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734840" y="7257577"/>
            <a:ext cx="3857835" cy="4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</a:pPr>
            <a:r>
              <a:rPr lang="en-US" b="true" sz="3020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JAVA / C#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34840" y="7779789"/>
            <a:ext cx="3857835" cy="250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Ideales para entornos empresariales robustos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22145" y="7257577"/>
            <a:ext cx="3857835" cy="4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2"/>
              </a:lnSpc>
            </a:pPr>
            <a:r>
              <a:rPr lang="en-US" b="true" sz="3020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RUBY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22145" y="7892892"/>
            <a:ext cx="3857835" cy="1874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8"/>
              </a:lnSpc>
            </a:pPr>
            <a:r>
              <a:rPr lang="en-US" sz="359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Enfocado en productividad</a:t>
            </a:r>
          </a:p>
          <a:p>
            <a:pPr algn="ctr" marL="0" indent="0" lvl="0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(Ruby on Rails)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30909" y="7257573"/>
            <a:ext cx="3857835" cy="436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b="true" sz="3020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30909" y="7892892"/>
            <a:ext cx="3857835" cy="1874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28"/>
              </a:lnSpc>
              <a:spcBef>
                <a:spcPct val="0"/>
              </a:spcBef>
            </a:pPr>
            <a:r>
              <a:rPr lang="en-US" sz="359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Sintaxis limpia, usado con Django o Flask.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939" y="2664158"/>
            <a:ext cx="18265061" cy="436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12"/>
              </a:lnSpc>
              <a:spcBef>
                <a:spcPct val="0"/>
              </a:spcBef>
            </a:pPr>
            <a:r>
              <a:rPr lang="en-US" b="true" sz="302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Presentaremos algunas alternativas similares para este uso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0" y="628321"/>
            <a:ext cx="18288000" cy="205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54"/>
              </a:lnSpc>
              <a:spcBef>
                <a:spcPct val="0"/>
              </a:spcBef>
            </a:pPr>
            <a:r>
              <a:rPr lang="en-US" b="true" sz="7128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ALTERNATIVAS DE LENGUAJES DEL LADO DEL SERVIDOR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96861" y="4492530"/>
            <a:ext cx="15294278" cy="0"/>
          </a:xfrm>
          <a:prstGeom prst="line">
            <a:avLst/>
          </a:prstGeom>
          <a:ln cap="flat" w="3810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03943" y="2826480"/>
            <a:ext cx="16080114" cy="126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51"/>
              </a:lnSpc>
              <a:spcBef>
                <a:spcPct val="0"/>
              </a:spcBef>
            </a:pPr>
            <a:r>
              <a:rPr lang="en-US" b="true" sz="8718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GRACIAS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1041" y="5140230"/>
            <a:ext cx="16080114" cy="257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0"/>
              </a:lnSpc>
            </a:pPr>
            <a:r>
              <a:rPr lang="en-US" b="true" sz="6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EQUIPO:</a:t>
            </a:r>
          </a:p>
          <a:p>
            <a:pPr algn="ctr">
              <a:lnSpc>
                <a:spcPts val="6780"/>
              </a:lnSpc>
            </a:pPr>
            <a:r>
              <a:rPr lang="en-US" b="true" sz="6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OMAR ORTIZ HERNÁNDEZ</a:t>
            </a:r>
          </a:p>
          <a:p>
            <a:pPr algn="ctr" marL="0" indent="0" lvl="0">
              <a:lnSpc>
                <a:spcPts val="678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JOSE ANGEL TRIGUEROS ZALAS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DAHZPQ0uwRY</dc:identifier>
  <dcterms:modified xsi:type="dcterms:W3CDTF">2011-08-01T06:04:30Z</dcterms:modified>
  <cp:revision>1</cp:revision>
  <dc:title>Presentación estrategia de crecimiento corporativo azul y blanco</dc:title>
</cp:coreProperties>
</file>